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7CFE0"/>
                </a:solidFill>
                <a:latin typeface="Aptos"/>
              </a:defRPr>
            </a:pPr>
            <a:r>
              <a:t>DS SPRINT 2026  /  ROUND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7F9FC"/>
                </a:solidFill>
                <a:latin typeface="Aptos"/>
              </a:defRPr>
            </a:pPr>
            <a:r>
              <a:t>CUSTOMER</a:t>
            </a:r>
          </a:p>
          <a:p>
            <a:pPr>
              <a:spcAft>
                <a:spcPts val="800"/>
              </a:spcAft>
              <a:defRPr sz="3600" b="1">
                <a:solidFill>
                  <a:srgbClr val="F7F9FC"/>
                </a:solidFill>
                <a:latin typeface="Aptos"/>
              </a:defRPr>
            </a:pPr>
            <a:r>
              <a:t>CHURN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154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B8C5D7"/>
                </a:solidFill>
                <a:latin typeface="Aptos"/>
              </a:defRPr>
            </a:pPr>
            <a:r>
              <a:t>Understand disengagement. Strengthen retention.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794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C457"/>
                </a:solidFill>
                <a:latin typeface="Aptos"/>
              </a:defRPr>
            </a:pPr>
            <a:r>
              <a:t>Business insights &amp; targeted retention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5806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B8C5D7"/>
                </a:solidFill>
                <a:latin typeface="Aptos"/>
              </a:defRPr>
            </a:pPr>
            <a:r>
              <a:t>ConnectSphere Telecom Pvt. Ltd. • Synthetic practice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8C5D7"/>
                </a:solidFill>
                <a:latin typeface="Aptos"/>
              </a:defRPr>
            </a:pPr>
            <a:r>
              <a:t>CUSTOMER CHURN INSIGHT • SYNTHETIC PRACTICE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7CFE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7CFE0"/>
                </a:solidFill>
                <a:latin typeface="Aptos"/>
              </a:defRPr>
            </a:pPr>
            <a:r>
              <a:t>DS SPRINT 2026 • ROUND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The business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51560" cy="41148"/>
          </a:xfrm>
          <a:prstGeom prst="rect">
            <a:avLst/>
          </a:prstGeom>
          <a:solidFill>
            <a:srgbClr val="3F8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7F9FC"/>
                </a:solidFill>
                <a:latin typeface="Aptos"/>
              </a:defRPr>
            </a:pPr>
            <a:r>
              <a:t>ConnectSphere wants to understand which customer patterns are associated with churn—and where retention effort should focus.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7F9FC"/>
                </a:solidFill>
                <a:latin typeface="Aptos"/>
              </a:defRPr>
            </a:pPr>
            <a:r>
              <a:t>•  Customer data spans profile, tenure, plan, usage, billing, service and support.</a:t>
            </a:r>
          </a:p>
          <a:p>
            <a:pPr>
              <a:spcAft>
                <a:spcPts val="800"/>
              </a:spcAft>
              <a:defRPr sz="1800" b="0">
                <a:solidFill>
                  <a:srgbClr val="F7F9FC"/>
                </a:solidFill>
                <a:latin typeface="Aptos"/>
              </a:defRPr>
            </a:pPr>
            <a:r>
              <a:t>•  The task is to identify disengagement signals, not merely report totals.</a:t>
            </a:r>
          </a:p>
          <a:p>
            <a:pPr>
              <a:spcAft>
                <a:spcPts val="800"/>
              </a:spcAft>
              <a:defRPr sz="1800" b="0">
                <a:solidFill>
                  <a:srgbClr val="F7F9FC"/>
                </a:solidFill>
                <a:latin typeface="Aptos"/>
              </a:defRPr>
            </a:pPr>
            <a:r>
              <a:t>•  Management needs targeted actions supported by evidence from the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8C5D7"/>
                </a:solidFill>
                <a:latin typeface="Aptos"/>
              </a:defRPr>
            </a:pPr>
            <a:r>
              <a:t>CUSTOMER CHURN INSIGHT • SYNTHETIC PRACTICE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7CFE0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7CFE0"/>
                </a:solidFill>
                <a:latin typeface="Aptos"/>
              </a:defRPr>
            </a:pPr>
            <a:r>
              <a:t>DS SPRINT 2026 • ROUND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What the practice dataset tells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51560" cy="41148"/>
          </a:xfrm>
          <a:prstGeom prst="rect">
            <a:avLst/>
          </a:prstGeom>
          <a:solidFill>
            <a:srgbClr val="3F8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606040" cy="1691640"/>
          </a:xfrm>
          <a:prstGeom prst="roundRect">
            <a:avLst/>
          </a:prstGeom>
          <a:solidFill>
            <a:srgbClr val="122644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B8C5D7"/>
                </a:solidFill>
                <a:latin typeface="Aptos"/>
              </a:defRPr>
            </a:pPr>
            <a:r>
              <a:t>CUSTOMER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57CFE0"/>
                </a:solidFill>
                <a:latin typeface="Aptos"/>
              </a:defRPr>
            </a:pPr>
            <a:r>
              <a:t>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F7F9FC"/>
                </a:solidFill>
                <a:latin typeface="Aptos"/>
              </a:defRPr>
            </a:pPr>
            <a:r>
              <a:t>Synthetic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606040" cy="1691640"/>
          </a:xfrm>
          <a:prstGeom prst="roundRect">
            <a:avLst/>
          </a:prstGeom>
          <a:solidFill>
            <a:srgbClr val="122644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9" y="199339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B8C5D7"/>
                </a:solidFill>
                <a:latin typeface="Aptos"/>
              </a:defRPr>
            </a:pPr>
            <a:r>
              <a:t>CHURNED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99" y="24231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8491"/>
                </a:solidFill>
                <a:latin typeface="Aptos"/>
              </a:defRPr>
            </a:pPr>
            <a:r>
              <a:t>215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9" y="2971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F7F9FC"/>
                </a:solidFill>
                <a:latin typeface="Aptos"/>
              </a:defRPr>
            </a:pPr>
            <a:r>
              <a:t>43.0% labelled churned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606040" cy="1691640"/>
          </a:xfrm>
          <a:prstGeom prst="roundRect">
            <a:avLst/>
          </a:prstGeom>
          <a:solidFill>
            <a:srgbClr val="122644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99339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B8C5D7"/>
                </a:solidFill>
                <a:latin typeface="Aptos"/>
              </a:defRPr>
            </a:pPr>
            <a:r>
              <a:t>RETAINED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4231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5ACF91"/>
                </a:solidFill>
                <a:latin typeface="Aptos"/>
              </a:defRPr>
            </a:pPr>
            <a:r>
              <a:t>285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971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F7F9FC"/>
                </a:solidFill>
                <a:latin typeface="Aptos"/>
              </a:defRPr>
            </a:pPr>
            <a:r>
              <a:t>57.0% labelled retained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828800"/>
            <a:ext cx="2606040" cy="1691640"/>
          </a:xfrm>
          <a:prstGeom prst="roundRect">
            <a:avLst/>
          </a:prstGeom>
          <a:solidFill>
            <a:srgbClr val="122644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19" y="199339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B8C5D7"/>
                </a:solidFill>
                <a:latin typeface="Aptos"/>
              </a:defRPr>
            </a:pPr>
            <a:r>
              <a:t>AVG. MONTHLY CHARGE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24231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C457"/>
                </a:solidFill>
                <a:latin typeface="Aptos"/>
              </a:defRPr>
            </a:pPr>
            <a:r>
              <a:t>₹738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2971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F7F9FC"/>
                </a:solidFill>
                <a:latin typeface="Aptos"/>
              </a:defRPr>
            </a:pPr>
            <a:r>
              <a:t>Practice-data average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51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8C5D7"/>
                </a:solidFill>
                <a:latin typeface="Aptos"/>
              </a:defRPr>
            </a:pPr>
            <a:r>
              <a:t>These metrics describe the generated practice sample only—not verified company KPIs.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8C5D7"/>
                </a:solidFill>
                <a:latin typeface="Aptos"/>
              </a:defRPr>
            </a:pPr>
            <a:r>
              <a:t>CUSTOMER CHURN INSIGHT • SYNTHETIC PRACTICE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7CFE0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7CFE0"/>
                </a:solidFill>
                <a:latin typeface="Aptos"/>
              </a:defRPr>
            </a:pPr>
            <a:r>
              <a:t>DS SPRINT 2026 • ROUND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Churn is not uniform across plans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51560" cy="41148"/>
          </a:xfrm>
          <a:prstGeom prst="rect">
            <a:avLst/>
          </a:prstGeom>
          <a:solidFill>
            <a:srgbClr val="3F8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629400" cy="33439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201168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C457"/>
                </a:solidFill>
                <a:latin typeface="Aptos"/>
              </a:defRPr>
            </a:pPr>
            <a:r>
              <a:t>Highest observed group:</a:t>
            </a:r>
          </a:p>
          <a:p>
            <a:pPr>
              <a:spcAft>
                <a:spcPts val="800"/>
              </a:spcAft>
              <a:defRPr sz="2000" b="1">
                <a:solidFill>
                  <a:srgbClr val="FFC457"/>
                </a:solidFill>
                <a:latin typeface="Aptos"/>
              </a:defRPr>
            </a:pPr>
            <a:r>
              <a:t>Premium • 43.8%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3337560"/>
            <a:ext cx="3886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7F9FC"/>
                </a:solidFill>
                <a:latin typeface="Aptos"/>
              </a:defRPr>
            </a:pPr>
            <a:r>
              <a:t>Business meaning</a:t>
            </a:r>
          </a:p>
          <a:p>
            <a:pPr>
              <a:spcAft>
                <a:spcPts val="800"/>
              </a:spcAft>
              <a:defRPr sz="1600" b="0">
                <a:solidFill>
                  <a:srgbClr val="F7F9FC"/>
                </a:solidFill>
                <a:latin typeface="Aptos"/>
              </a:defRPr>
            </a:pPr>
            <a:r>
              <a:t>Plan differences can prioritize investigation, but plan alone does not explain why a customer leaves.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8C5D7"/>
                </a:solidFill>
                <a:latin typeface="Aptos"/>
              </a:defRPr>
            </a:pPr>
            <a:r>
              <a:t>CUSTOMER CHURN INSIGHT • SYNTHETIC PRACTICE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7CFE0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7CFE0"/>
                </a:solidFill>
                <a:latin typeface="Aptos"/>
              </a:defRPr>
            </a:pPr>
            <a:r>
              <a:t>DS SPRINT 2026 • ROUND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Early tenure deserves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51560" cy="41148"/>
          </a:xfrm>
          <a:prstGeom prst="rect">
            <a:avLst/>
          </a:prstGeom>
          <a:solidFill>
            <a:srgbClr val="3F8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nure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629400" cy="3349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201168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C457"/>
                </a:solidFill>
                <a:latin typeface="Aptos"/>
              </a:defRPr>
            </a:pPr>
            <a:r>
              <a:t>Highest observed group:</a:t>
            </a:r>
          </a:p>
          <a:p>
            <a:pPr>
              <a:spcAft>
                <a:spcPts val="800"/>
              </a:spcAft>
              <a:defRPr sz="2000" b="1">
                <a:solidFill>
                  <a:srgbClr val="FFC457"/>
                </a:solidFill>
                <a:latin typeface="Aptos"/>
              </a:defRPr>
            </a:pPr>
            <a:r>
              <a:t>0–12 months • 57.3%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3337560"/>
            <a:ext cx="3886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7F9FC"/>
                </a:solidFill>
                <a:latin typeface="Aptos"/>
              </a:defRPr>
            </a:pPr>
            <a:r>
              <a:t>Business meaning</a:t>
            </a:r>
          </a:p>
          <a:p>
            <a:pPr>
              <a:spcAft>
                <a:spcPts val="800"/>
              </a:spcAft>
              <a:defRPr sz="1600" b="0">
                <a:solidFill>
                  <a:srgbClr val="F7F9FC"/>
                </a:solidFill>
                <a:latin typeface="Aptos"/>
              </a:defRPr>
            </a:pPr>
            <a:r>
              <a:t>Test onboarding check-ins and early-life support to reduce possible customer friction.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8C5D7"/>
                </a:solidFill>
                <a:latin typeface="Aptos"/>
              </a:defRPr>
            </a:pPr>
            <a:r>
              <a:t>CUSTOMER CHURN INSIGHT • SYNTHETIC PRACTICE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7CFE0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7CFE0"/>
                </a:solidFill>
                <a:latin typeface="Aptos"/>
              </a:defRPr>
            </a:pPr>
            <a:r>
              <a:t>DS SPRINT 2026 • ROUND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Support experience is a retention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51560" cy="41148"/>
          </a:xfrm>
          <a:prstGeom prst="rect">
            <a:avLst/>
          </a:prstGeom>
          <a:solidFill>
            <a:srgbClr val="3F8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laint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629400" cy="33439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201168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C457"/>
                </a:solidFill>
                <a:latin typeface="Aptos"/>
              </a:defRPr>
            </a:pPr>
            <a:r>
              <a:t>Highest observed group:</a:t>
            </a:r>
          </a:p>
          <a:p>
            <a:pPr>
              <a:spcAft>
                <a:spcPts val="800"/>
              </a:spcAft>
              <a:defRPr sz="2000" b="1">
                <a:solidFill>
                  <a:srgbClr val="FFC457"/>
                </a:solidFill>
                <a:latin typeface="Aptos"/>
              </a:defRPr>
            </a:pPr>
            <a:r>
              <a:t>2+ complaints • 57.6%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3337560"/>
            <a:ext cx="3886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7F9FC"/>
                </a:solidFill>
                <a:latin typeface="Aptos"/>
              </a:defRPr>
            </a:pPr>
            <a:r>
              <a:t>Business meaning</a:t>
            </a:r>
          </a:p>
          <a:p>
            <a:pPr>
              <a:spcAft>
                <a:spcPts val="800"/>
              </a:spcAft>
              <a:defRPr sz="1600" b="0">
                <a:solidFill>
                  <a:srgbClr val="F7F9FC"/>
                </a:solidFill>
                <a:latin typeface="Aptos"/>
              </a:defRPr>
            </a:pPr>
            <a:r>
              <a:t>Prioritize timely ticket resolution, follow-up after complaints, and root-cause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8C5D7"/>
                </a:solidFill>
                <a:latin typeface="Aptos"/>
              </a:defRPr>
            </a:pPr>
            <a:r>
              <a:t>CUSTOMER CHURN INSIGHT • SYNTHETIC PRACTICE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7CFE0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7CFE0"/>
                </a:solidFill>
                <a:latin typeface="Aptos"/>
              </a:defRPr>
            </a:pPr>
            <a:r>
              <a:t>DS SPRINT 2026 • ROUND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Payment behaviour and regional differences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51560" cy="41148"/>
          </a:xfrm>
          <a:prstGeom prst="rect">
            <a:avLst/>
          </a:prstGeom>
          <a:solidFill>
            <a:srgbClr val="3F8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tePayment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45920"/>
            <a:ext cx="5577840" cy="2813514"/>
          </a:xfrm>
          <a:prstGeom prst="rect">
            <a:avLst/>
          </a:prstGeom>
        </p:spPr>
      </p:pic>
      <p:pic>
        <p:nvPicPr>
          <p:cNvPr id="7" name="Picture 6" descr="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532120" cy="27904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983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C457"/>
                </a:solidFill>
                <a:latin typeface="Aptos"/>
              </a:defRPr>
            </a:pPr>
            <a:r>
              <a:t>Highest payment-group churn: 2+ late payments (52.4%)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4983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57CFE0"/>
                </a:solidFill>
                <a:latin typeface="Aptos"/>
              </a:defRPr>
            </a:pPr>
            <a:r>
              <a:t>Highest regional churn: South (50.7%)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8C5D7"/>
                </a:solidFill>
                <a:latin typeface="Aptos"/>
              </a:defRPr>
            </a:pPr>
            <a:r>
              <a:t>Prioritization clues only; validate sample sizes and operational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8C5D7"/>
                </a:solidFill>
                <a:latin typeface="Aptos"/>
              </a:defRPr>
            </a:pPr>
            <a:r>
              <a:t>CUSTOMER CHURN INSIGHT • SYNTHETIC PRACTICE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7CFE0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7CFE0"/>
                </a:solidFill>
                <a:latin typeface="Aptos"/>
              </a:defRPr>
            </a:pPr>
            <a:r>
              <a:t>DS SPRINT 2026 • ROUND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Usage can help flag disengagement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51560" cy="41148"/>
          </a:xfrm>
          <a:prstGeom prst="rect">
            <a:avLst/>
          </a:prstGeom>
          <a:solidFill>
            <a:srgbClr val="3F8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ge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629400" cy="3349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201168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C457"/>
                </a:solidFill>
                <a:latin typeface="Aptos"/>
              </a:defRPr>
            </a:pPr>
            <a:r>
              <a:t>Highest observed usage group:</a:t>
            </a:r>
          </a:p>
          <a:p>
            <a:pPr>
              <a:spcAft>
                <a:spcPts val="800"/>
              </a:spcAft>
              <a:defRPr sz="2000" b="1">
                <a:solidFill>
                  <a:srgbClr val="FFC457"/>
                </a:solidFill>
                <a:latin typeface="Aptos"/>
              </a:defRPr>
            </a:pPr>
            <a:r>
              <a:t>&lt;100 GB • 59.6%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3337560"/>
            <a:ext cx="3886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7F9FC"/>
                </a:solidFill>
                <a:latin typeface="Aptos"/>
              </a:defRPr>
            </a:pPr>
            <a:r>
              <a:t>Low usage may signal reduced engagement. Test a helpful check-in or plan-fit review before offering discounts.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8C5D7"/>
                </a:solidFill>
                <a:latin typeface="Aptos"/>
              </a:defRPr>
            </a:pPr>
            <a:r>
              <a:t>CUSTOMER CHURN INSIGHT • SYNTHETIC PRACTICE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7CFE0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7CFE0"/>
                </a:solidFill>
                <a:latin typeface="Aptos"/>
              </a:defRPr>
            </a:pPr>
            <a:r>
              <a:t>DS SPRINT 2026 • ROUND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Recommended retention playbook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51560" cy="41148"/>
          </a:xfrm>
          <a:prstGeom prst="rect">
            <a:avLst/>
          </a:prstGeom>
          <a:solidFill>
            <a:srgbClr val="3F8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29000" cy="1554480"/>
          </a:xfrm>
          <a:prstGeom prst="roundRect">
            <a:avLst/>
          </a:prstGeom>
          <a:solidFill>
            <a:srgbClr val="122644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7CFE0"/>
                </a:solidFill>
                <a:latin typeface="Aptos"/>
              </a:defRPr>
            </a:pPr>
            <a:r>
              <a:t>01  ONBOARD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94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C457"/>
                </a:solidFill>
                <a:latin typeface="Aptos"/>
              </a:defRPr>
            </a:pPr>
            <a:r>
              <a:t>First 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0604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Welcome journey, usage education and proactive check-in.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91640"/>
            <a:ext cx="3429000" cy="1554480"/>
          </a:xfrm>
          <a:prstGeom prst="roundRect">
            <a:avLst/>
          </a:prstGeom>
          <a:solidFill>
            <a:srgbClr val="122644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7CFE0"/>
                </a:solidFill>
                <a:latin typeface="Aptos"/>
              </a:defRPr>
            </a:pPr>
            <a:r>
              <a:t>02  RESOLVE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194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C457"/>
                </a:solidFill>
                <a:latin typeface="Aptos"/>
              </a:defRPr>
            </a:pPr>
            <a:r>
              <a:t>Complaint 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60604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Prioritize repeat complaints; follow up after resolution.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91640"/>
            <a:ext cx="3429000" cy="1554480"/>
          </a:xfrm>
          <a:prstGeom prst="roundRect">
            <a:avLst/>
          </a:prstGeom>
          <a:solidFill>
            <a:srgbClr val="122644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7CFE0"/>
                </a:solidFill>
                <a:latin typeface="Aptos"/>
              </a:defRPr>
            </a:pPr>
            <a:r>
              <a:t>03  ENGAGE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194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C457"/>
                </a:solidFill>
                <a:latin typeface="Aptos"/>
              </a:defRPr>
            </a:pPr>
            <a:r>
              <a:t>Usage &amp; plan 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60604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Contact low-usage customers with relevant options.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03320"/>
            <a:ext cx="3429000" cy="1554480"/>
          </a:xfrm>
          <a:prstGeom prst="roundRect">
            <a:avLst/>
          </a:prstGeom>
          <a:solidFill>
            <a:srgbClr val="122644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840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7CFE0"/>
                </a:solidFill>
                <a:latin typeface="Aptos"/>
              </a:defRPr>
            </a:pPr>
            <a:r>
              <a:t>04 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206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C457"/>
                </a:solidFill>
                <a:latin typeface="Aptos"/>
              </a:defRPr>
            </a:pPr>
            <a:r>
              <a:t>Payment assistance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6177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Gentle reminders and clear payment support.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703320"/>
            <a:ext cx="3429000" cy="1554480"/>
          </a:xfrm>
          <a:prstGeom prst="roundRect">
            <a:avLst/>
          </a:prstGeom>
          <a:solidFill>
            <a:srgbClr val="122644"/>
          </a:solidFill>
          <a:ln>
            <a:solidFill>
              <a:srgbClr val="2A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3840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7CFE0"/>
                </a:solidFill>
                <a:latin typeface="Aptos"/>
              </a:defRPr>
            </a:pPr>
            <a:r>
              <a:t>05  MEASURE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4206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C457"/>
                </a:solidFill>
                <a:latin typeface="Aptos"/>
              </a:defRPr>
            </a:pPr>
            <a:r>
              <a:t>Controlled 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46177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Compare outcomes against baseline or holdout group.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8C5D7"/>
                </a:solidFill>
                <a:latin typeface="Aptos"/>
              </a:defRPr>
            </a:pPr>
            <a:r>
              <a:t>CUSTOMER CHURN INSIGHT • SYNTHETIC PRACTICE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7CFE0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7CFE0"/>
                </a:solidFill>
                <a:latin typeface="Aptos"/>
              </a:defRPr>
            </a:pPr>
            <a:r>
              <a:t>DS SPRINT 2026 • ROUND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30–60–90 day action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51560" cy="41148"/>
          </a:xfrm>
          <a:prstGeom prst="rect">
            <a:avLst/>
          </a:prstGeom>
          <a:solidFill>
            <a:srgbClr val="3F8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7F9FC"/>
                </a:solidFill>
                <a:latin typeface="Aptos"/>
              </a:defRPr>
            </a:pPr>
            <a:r>
              <a:t>•  Days 1–30 — Validate data quality, confirm risk segments and agree on baseline churn metrics.</a:t>
            </a:r>
          </a:p>
          <a:p>
            <a:pPr>
              <a:spcAft>
                <a:spcPts val="800"/>
              </a:spcAft>
              <a:defRPr sz="1800" b="0">
                <a:solidFill>
                  <a:srgbClr val="F7F9FC"/>
                </a:solidFill>
                <a:latin typeface="Aptos"/>
              </a:defRPr>
            </a:pPr>
            <a:r>
              <a:t>•  Days 31–60 — Pilot onboarding, complaint-recovery and payment-support interventions.</a:t>
            </a:r>
          </a:p>
          <a:p>
            <a:pPr>
              <a:spcAft>
                <a:spcPts val="800"/>
              </a:spcAft>
              <a:defRPr sz="1800" b="0">
                <a:solidFill>
                  <a:srgbClr val="F7F9FC"/>
                </a:solidFill>
                <a:latin typeface="Aptos"/>
              </a:defRPr>
            </a:pPr>
            <a:r>
              <a:t>•  Days 61–90 — Compare outcomes with baseline/control and scale only interventions that improve retention.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57CFE0"/>
                </a:solidFill>
                <a:latin typeface="Aptos"/>
              </a:defRPr>
            </a:pPr>
            <a:r>
              <a:t>Success measures: churn rate • retention rate • complaint resolution time • repeat complaints • campaign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8C5D7"/>
                </a:solidFill>
                <a:latin typeface="Aptos"/>
              </a:defRPr>
            </a:pPr>
            <a:r>
              <a:t>CUSTOMER CHURN INSIGHT • SYNTHETIC PRACTICE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7CFE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7CFE0"/>
                </a:solidFill>
                <a:latin typeface="Aptos"/>
              </a:defRPr>
            </a:pPr>
            <a:r>
              <a:t>DS SPRINT 2026 • ROUND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How we will know it worked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51560" cy="41148"/>
          </a:xfrm>
          <a:prstGeom prst="rect">
            <a:avLst/>
          </a:prstGeom>
          <a:solidFill>
            <a:srgbClr val="3F8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7F9FC"/>
                </a:solidFill>
                <a:latin typeface="Aptos"/>
              </a:defRPr>
            </a:pPr>
            <a:r>
              <a:t>•  Primary KPI: churn rate for each targeted segment.</a:t>
            </a:r>
          </a:p>
          <a:p>
            <a:pPr>
              <a:spcAft>
                <a:spcPts val="800"/>
              </a:spcAft>
              <a:defRPr sz="1800" b="0">
                <a:solidFill>
                  <a:srgbClr val="F7F9FC"/>
                </a:solidFill>
                <a:latin typeface="Aptos"/>
              </a:defRPr>
            </a:pPr>
            <a:r>
              <a:t>•  Guardrails: customer satisfaction, complaint recurrence and cost per retained customer.</a:t>
            </a:r>
          </a:p>
          <a:p>
            <a:pPr>
              <a:spcAft>
                <a:spcPts val="800"/>
              </a:spcAft>
              <a:defRPr sz="1800" b="0">
                <a:solidFill>
                  <a:srgbClr val="F7F9FC"/>
                </a:solidFill>
                <a:latin typeface="Aptos"/>
              </a:defRPr>
            </a:pPr>
            <a:r>
              <a:t>•  Evaluation: compare pilot results with a baseline or comparable control group.</a:t>
            </a:r>
          </a:p>
          <a:p>
            <a:pPr>
              <a:spcAft>
                <a:spcPts val="800"/>
              </a:spcAft>
              <a:defRPr sz="1800" b="0">
                <a:solidFill>
                  <a:srgbClr val="F7F9FC"/>
                </a:solidFill>
                <a:latin typeface="Aptos"/>
              </a:defRPr>
            </a:pPr>
            <a:r>
              <a:t>•  Scale only when improvement is measurable and sustainable.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C457"/>
                </a:solidFill>
                <a:latin typeface="Aptos"/>
              </a:defRPr>
            </a:pPr>
            <a:r>
              <a:t>No retention uplift is claimed before the interventions are tested.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8C5D7"/>
                </a:solidFill>
                <a:latin typeface="Aptos"/>
              </a:defRPr>
            </a:pPr>
            <a:r>
              <a:t>CUSTOMER CHURN INSIGHT • SYNTHETIC PRACTICE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7CFE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7CFE0"/>
                </a:solidFill>
                <a:latin typeface="Aptos"/>
              </a:defRPr>
            </a:pPr>
            <a:r>
              <a:t>DS SPRINT 2026 • ROUND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Conclusion: act on signals, validate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1051560" cy="41148"/>
          </a:xfrm>
          <a:prstGeom prst="rect">
            <a:avLst/>
          </a:prstGeom>
          <a:solidFill>
            <a:srgbClr val="3F8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7F9FC"/>
                </a:solidFill>
                <a:latin typeface="Aptos"/>
              </a:defRPr>
            </a:pPr>
            <a:r>
              <a:t>The analysis gives management a practical way to prioritize retention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7F9FC"/>
                </a:solidFill>
                <a:latin typeface="Aptos"/>
              </a:defRPr>
            </a:pPr>
            <a:r>
              <a:t>•  Identify segments with higher observed churn.</a:t>
            </a:r>
          </a:p>
          <a:p>
            <a:pPr>
              <a:spcAft>
                <a:spcPts val="800"/>
              </a:spcAft>
              <a:defRPr sz="1800" b="0">
                <a:solidFill>
                  <a:srgbClr val="F7F9FC"/>
                </a:solidFill>
                <a:latin typeface="Aptos"/>
              </a:defRPr>
            </a:pPr>
            <a:r>
              <a:t>•  Investigate tenure, complaints, payment behaviour and usage together.</a:t>
            </a:r>
          </a:p>
          <a:p>
            <a:pPr>
              <a:spcAft>
                <a:spcPts val="800"/>
              </a:spcAft>
              <a:defRPr sz="1800" b="0">
                <a:solidFill>
                  <a:srgbClr val="F7F9FC"/>
                </a:solidFill>
                <a:latin typeface="Aptos"/>
              </a:defRPr>
            </a:pPr>
            <a:r>
              <a:t>•  Launch focused retention pilots and measure their effect.</a:t>
            </a:r>
          </a:p>
          <a:p>
            <a:pPr>
              <a:spcAft>
                <a:spcPts val="800"/>
              </a:spcAft>
              <a:defRPr sz="1800" b="0">
                <a:solidFill>
                  <a:srgbClr val="F7F9FC"/>
                </a:solidFill>
                <a:latin typeface="Aptos"/>
              </a:defRPr>
            </a:pPr>
            <a:r>
              <a:t>•  Validate every pattern against real company data before operational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57CFE0"/>
                </a:solidFill>
                <a:latin typeface="Aptos"/>
              </a:defRPr>
            </a:pPr>
            <a:r>
              <a:t>Understand customers. Detect disengagement. Strengthen retention.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8C5D7"/>
                </a:solidFill>
                <a:latin typeface="Aptos"/>
              </a:defRPr>
            </a:pPr>
            <a:r>
              <a:t>CUSTOMER CHURN INSIGHT • SYNTHETIC PRACTICE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7CFE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